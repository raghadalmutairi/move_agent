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822960" y="2103120"/>
            <a:ext cx="10515600" cy="457200"/>
          </a:xfrm>
          <a:prstGeom prst="rect">
            <a:avLst/>
          </a:prstGeom>
          <a:noFill/>
        </p:spPr>
        <p:txBody>
          <a:bodyPr wrap="square" anchor="t" lIns="0" rIns="0">
            <a:spAutoFit/>
          </a:bodyPr>
          <a:lstStyle/>
          <a:p>
            <a:pPr algn="l"/>
            <a:r>
              <a:rPr sz="1600" b="1">
                <a:solidFill>
                  <a:srgbClr val="CADCFC"/>
                </a:solidFill>
                <a:latin typeface="Calibri"/>
              </a:rPr>
              <a:t>MARKET INTELLIGENCE &amp; GTM</a:t>
            </a:r>
          </a:p>
        </p:txBody>
      </p:sp>
      <p:sp>
        <p:nvSpPr>
          <p:cNvPr id="3" name="TextBox 2"/>
          <p:cNvSpPr txBox="1"/>
          <p:nvPr/>
        </p:nvSpPr>
        <p:spPr>
          <a:xfrm>
            <a:off x="822960" y="2651760"/>
            <a:ext cx="10515600" cy="1828800"/>
          </a:xfrm>
          <a:prstGeom prst="rect">
            <a:avLst/>
          </a:prstGeom>
          <a:noFill/>
        </p:spPr>
        <p:txBody>
          <a:bodyPr wrap="square" anchor="t" lIns="0" rIns="0">
            <a:spAutoFit/>
          </a:bodyPr>
          <a:lstStyle/>
          <a:p>
            <a:pPr algn="l"/>
            <a:r>
              <a:rPr sz="4400" b="1">
                <a:solidFill>
                  <a:srgbClr val="FFFFFF"/>
                </a:solidFill>
                <a:latin typeface="Calibri"/>
              </a:rPr>
              <a:t>OpenAI</a:t>
            </a:r>
          </a:p>
        </p:txBody>
      </p:sp>
      <p:sp>
        <p:nvSpPr>
          <p:cNvPr id="4" name="TextBox 3"/>
          <p:cNvSpPr txBox="1"/>
          <p:nvPr/>
        </p:nvSpPr>
        <p:spPr>
          <a:xfrm>
            <a:off x="822960" y="4480560"/>
            <a:ext cx="10515600" cy="914400"/>
          </a:xfrm>
          <a:prstGeom prst="rect">
            <a:avLst/>
          </a:prstGeom>
          <a:noFill/>
        </p:spPr>
        <p:txBody>
          <a:bodyPr wrap="square" anchor="t" lIns="0" rIns="0">
            <a:spAutoFit/>
          </a:bodyPr>
          <a:lstStyle/>
          <a:p>
            <a:pPr algn="l"/>
            <a:r>
              <a:rPr sz="2000" b="0">
                <a:solidFill>
                  <a:srgbClr val="CADCFC"/>
                </a:solidFill>
                <a:latin typeface="Calibri"/>
              </a:rPr>
              <a:t>Executive Market Brief, GTM Strategy &amp; Content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365760"/>
          </a:xfrm>
          <a:prstGeom prst="rect">
            <a:avLst/>
          </a:prstGeom>
          <a:noFill/>
        </p:spPr>
        <p:txBody>
          <a:bodyPr wrap="square" anchor="t" lIns="0" rIns="0">
            <a:spAutoFit/>
          </a:bodyPr>
          <a:lstStyle/>
          <a:p>
            <a:pPr algn="l"/>
            <a:r>
              <a:rPr sz="1300" b="1">
                <a:solidFill>
                  <a:srgbClr val="5A6472"/>
                </a:solidFill>
                <a:latin typeface="Calibri"/>
              </a:rPr>
              <a:t>EXECUTIVE SUMMARY</a:t>
            </a:r>
          </a:p>
        </p:txBody>
      </p:sp>
      <p:sp>
        <p:nvSpPr>
          <p:cNvPr id="3" name="TextBox 2"/>
          <p:cNvSpPr txBox="1"/>
          <p:nvPr/>
        </p:nvSpPr>
        <p:spPr>
          <a:xfrm>
            <a:off x="640080" y="822960"/>
            <a:ext cx="10972800" cy="731520"/>
          </a:xfrm>
          <a:prstGeom prst="rect">
            <a:avLst/>
          </a:prstGeom>
          <a:noFill/>
        </p:spPr>
        <p:txBody>
          <a:bodyPr wrap="square" anchor="t" lIns="0" rIns="0">
            <a:spAutoFit/>
          </a:bodyPr>
          <a:lstStyle/>
          <a:p>
            <a:pPr algn="l"/>
            <a:r>
              <a:rPr sz="3200" b="1">
                <a:solidFill>
                  <a:srgbClr val="1E2761"/>
                </a:solidFill>
                <a:latin typeface="Calibri"/>
              </a:rPr>
              <a:t>OpenAI</a:t>
            </a:r>
          </a:p>
        </p:txBody>
      </p:sp>
      <p:sp>
        <p:nvSpPr>
          <p:cNvPr id="4" name="TextBox 3"/>
          <p:cNvSpPr txBox="1"/>
          <p:nvPr/>
        </p:nvSpPr>
        <p:spPr>
          <a:xfrm>
            <a:off x="640080" y="1737360"/>
            <a:ext cx="10881360" cy="3291840"/>
          </a:xfrm>
          <a:prstGeom prst="rect">
            <a:avLst/>
          </a:prstGeom>
          <a:noFill/>
        </p:spPr>
        <p:txBody>
          <a:bodyPr wrap="square" anchor="t" lIns="0" rIns="0">
            <a:spAutoFit/>
          </a:bodyPr>
          <a:lstStyle/>
          <a:p>
            <a:pPr algn="l"/>
            <a:r>
              <a:rPr sz="1600" b="0">
                <a:solidFill>
                  <a:srgbClr val="212934"/>
                </a:solidFill>
                <a:latin typeface="Calibri"/>
              </a:rPr>
              <a:t>OpenAI is a leading AI research and deployment company best known for frontier generative models and developer platforms that power consumer and enterprise applications globally. Its dual nature (research breakthroughs translated into commercially deployed APIs and products) positions it at the center of the rapidly scaling AI platform market. Market reports indicate strong secular tailwinds for AI platforms and model training/deployment infrastructure through 2030+, with North America leading share and cloud-based delivery dominant [76][77][78]. Competitive intensity is high from hyperscalers (Microsoft, Google, AWS), model labs (Anthropic, Meta’s open models), and MLOps platforms. OpenAI’s brand, model performance, distribution via major partners, and developer ecosystem are key strengths; risks include model commoditization, regulatory scrutiny, supply-chain constraints (compute), and margin pressure from inference costs. Strategic focus should prioritize enterprise trust (security, compliance), cost efficiency (inference optimization), ecosystem lock-in (tools/agents), and geographic/regulatory navigation.</a:t>
            </a:r>
          </a:p>
        </p:txBody>
      </p:sp>
      <p:sp>
        <p:nvSpPr>
          <p:cNvPr id="5" name="TextBox 4"/>
          <p:cNvSpPr txBox="1"/>
          <p:nvPr/>
        </p:nvSpPr>
        <p:spPr>
          <a:xfrm>
            <a:off x="640080" y="5760720"/>
            <a:ext cx="10881360" cy="548640"/>
          </a:xfrm>
          <a:prstGeom prst="rect">
            <a:avLst/>
          </a:prstGeom>
          <a:noFill/>
        </p:spPr>
        <p:txBody>
          <a:bodyPr wrap="square" anchor="t" lIns="0" rIns="0">
            <a:spAutoFit/>
          </a:bodyPr>
          <a:lstStyle/>
          <a:p>
            <a:pPr algn="l"/>
            <a:r>
              <a:rPr sz="1300" b="1">
                <a:solidFill>
                  <a:srgbClr val="5A6472"/>
                </a:solidFill>
                <a:latin typeface="Calibri"/>
              </a:rPr>
              <a:t>Confidence: medium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365760"/>
          </a:xfrm>
          <a:prstGeom prst="rect">
            <a:avLst/>
          </a:prstGeom>
          <a:noFill/>
        </p:spPr>
        <p:txBody>
          <a:bodyPr wrap="square" anchor="t" lIns="0" rIns="0">
            <a:spAutoFit/>
          </a:bodyPr>
          <a:lstStyle/>
          <a:p>
            <a:pPr algn="l"/>
            <a:r>
              <a:rPr sz="1300" b="1">
                <a:solidFill>
                  <a:srgbClr val="5A6472"/>
                </a:solidFill>
                <a:latin typeface="Calibri"/>
              </a:rPr>
              <a:t>POSITION</a:t>
            </a:r>
          </a:p>
        </p:txBody>
      </p:sp>
      <p:sp>
        <p:nvSpPr>
          <p:cNvPr id="3" name="TextBox 2"/>
          <p:cNvSpPr txBox="1"/>
          <p:nvPr/>
        </p:nvSpPr>
        <p:spPr>
          <a:xfrm>
            <a:off x="640080" y="822960"/>
            <a:ext cx="10972800" cy="731520"/>
          </a:xfrm>
          <a:prstGeom prst="rect">
            <a:avLst/>
          </a:prstGeom>
          <a:noFill/>
        </p:spPr>
        <p:txBody>
          <a:bodyPr wrap="square" anchor="t" lIns="0" rIns="0">
            <a:spAutoFit/>
          </a:bodyPr>
          <a:lstStyle/>
          <a:p>
            <a:pPr algn="l"/>
            <a:r>
              <a:rPr sz="3200" b="1">
                <a:solidFill>
                  <a:srgbClr val="1E2761"/>
                </a:solidFill>
                <a:latin typeface="Calibri"/>
              </a:rPr>
              <a:t>SWOT</a:t>
            </a:r>
          </a:p>
        </p:txBody>
      </p:sp>
      <p:sp>
        <p:nvSpPr>
          <p:cNvPr id="4" name="Rectangle 3"/>
          <p:cNvSpPr/>
          <p:nvPr/>
        </p:nvSpPr>
        <p:spPr>
          <a:xfrm>
            <a:off x="640080" y="1737360"/>
            <a:ext cx="5166360" cy="22860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47088"/>
            <a:ext cx="4846320" cy="365760"/>
          </a:xfrm>
          <a:prstGeom prst="rect">
            <a:avLst/>
          </a:prstGeom>
          <a:noFill/>
        </p:spPr>
        <p:txBody>
          <a:bodyPr wrap="square" anchor="t" lIns="0" rIns="0">
            <a:spAutoFit/>
          </a:bodyPr>
          <a:lstStyle/>
          <a:p>
            <a:pPr algn="l"/>
            <a:r>
              <a:rPr sz="1600" b="1">
                <a:solidFill>
                  <a:srgbClr val="1E2761"/>
                </a:solidFill>
                <a:latin typeface="Calibri"/>
              </a:rPr>
              <a:t>Strengths</a:t>
            </a:r>
          </a:p>
        </p:txBody>
      </p:sp>
      <p:sp>
        <p:nvSpPr>
          <p:cNvPr id="6" name="TextBox 5"/>
          <p:cNvSpPr txBox="1"/>
          <p:nvPr/>
        </p:nvSpPr>
        <p:spPr>
          <a:xfrm>
            <a:off x="822960" y="2286000"/>
            <a:ext cx="4800600" cy="1645920"/>
          </a:xfrm>
          <a:prstGeom prst="rect">
            <a:avLst/>
          </a:prstGeom>
          <a:noFill/>
        </p:spPr>
        <p:txBody>
          <a:bodyPr wrap="square">
            <a:spAutoFit/>
          </a:bodyPr>
          <a:lstStyle/>
          <a:p>
            <a:pPr>
              <a:spcAft>
                <a:spcPts val="600"/>
              </a:spcAft>
            </a:pPr>
            <a:r>
              <a:rPr sz="1200">
                <a:solidFill>
                  <a:srgbClr val="212934"/>
                </a:solidFill>
                <a:latin typeface="Calibri"/>
              </a:rPr>
              <a:t>• Recognized alongside hyperscalers as an AI platform leader, driving enterprise consideration at scale.</a:t>
            </a:r>
          </a:p>
          <a:p>
            <a:pPr>
              <a:spcAft>
                <a:spcPts val="600"/>
              </a:spcAft>
            </a:pPr>
            <a:r>
              <a:rPr sz="1200">
                <a:solidFill>
                  <a:srgbClr val="212934"/>
                </a:solidFill>
                <a:latin typeface="Calibri"/>
              </a:rPr>
              <a:t>• Rapid expansion in AI platforms and lifecycle tooling is enlarging the addressable market for APIs and solutions.</a:t>
            </a:r>
          </a:p>
          <a:p>
            <a:pPr>
              <a:spcAft>
                <a:spcPts val="600"/>
              </a:spcAft>
            </a:pPr>
            <a:r>
              <a:rPr sz="1200">
                <a:solidFill>
                  <a:srgbClr val="212934"/>
                </a:solidFill>
                <a:latin typeface="Calibri"/>
              </a:rPr>
              <a:t>• Cloud-first deployment dominance aligns directly with API-delivered model access and elastic scaling.</a:t>
            </a:r>
          </a:p>
        </p:txBody>
      </p:sp>
      <p:sp>
        <p:nvSpPr>
          <p:cNvPr id="7" name="Rectangle 6"/>
          <p:cNvSpPr/>
          <p:nvPr/>
        </p:nvSpPr>
        <p:spPr>
          <a:xfrm>
            <a:off x="6355080" y="1737360"/>
            <a:ext cx="5166360" cy="2286000"/>
          </a:xfrm>
          <a:prstGeom prst="rect">
            <a:avLst/>
          </a:prstGeom>
          <a:solidFill>
            <a:srgbClr val="F3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847088"/>
            <a:ext cx="4846320" cy="365760"/>
          </a:xfrm>
          <a:prstGeom prst="rect">
            <a:avLst/>
          </a:prstGeom>
          <a:noFill/>
        </p:spPr>
        <p:txBody>
          <a:bodyPr wrap="square" anchor="t" lIns="0" rIns="0">
            <a:spAutoFit/>
          </a:bodyPr>
          <a:lstStyle/>
          <a:p>
            <a:pPr algn="l"/>
            <a:r>
              <a:rPr sz="1600" b="1">
                <a:solidFill>
                  <a:srgbClr val="1E2761"/>
                </a:solidFill>
                <a:latin typeface="Calibri"/>
              </a:rPr>
              <a:t>Weaknesses</a:t>
            </a:r>
          </a:p>
        </p:txBody>
      </p:sp>
      <p:sp>
        <p:nvSpPr>
          <p:cNvPr id="9" name="TextBox 8"/>
          <p:cNvSpPr txBox="1"/>
          <p:nvPr/>
        </p:nvSpPr>
        <p:spPr>
          <a:xfrm>
            <a:off x="6537960" y="2286000"/>
            <a:ext cx="4800600" cy="1645920"/>
          </a:xfrm>
          <a:prstGeom prst="rect">
            <a:avLst/>
          </a:prstGeom>
          <a:noFill/>
        </p:spPr>
        <p:txBody>
          <a:bodyPr wrap="square">
            <a:spAutoFit/>
          </a:bodyPr>
          <a:lstStyle/>
          <a:p>
            <a:pPr>
              <a:spcAft>
                <a:spcPts val="600"/>
              </a:spcAft>
            </a:pPr>
            <a:r>
              <a:rPr sz="1200">
                <a:solidFill>
                  <a:srgbClr val="212934"/>
                </a:solidFill>
                <a:latin typeface="Calibri"/>
              </a:rPr>
              <a:t>• Cloud and compute supply constraints threaten margins and reliability at scale.</a:t>
            </a:r>
          </a:p>
          <a:p>
            <a:pPr>
              <a:spcAft>
                <a:spcPts val="600"/>
              </a:spcAft>
            </a:pPr>
            <a:r>
              <a:rPr sz="1200">
                <a:solidFill>
                  <a:srgbClr val="212934"/>
                </a:solidFill>
                <a:latin typeface="Calibri"/>
              </a:rPr>
              <a:t>• Hyperscaler overlap intensifies commoditization pressure on price and features.</a:t>
            </a:r>
          </a:p>
        </p:txBody>
      </p:sp>
      <p:sp>
        <p:nvSpPr>
          <p:cNvPr id="10" name="Rectangle 9"/>
          <p:cNvSpPr/>
          <p:nvPr/>
        </p:nvSpPr>
        <p:spPr>
          <a:xfrm>
            <a:off x="640080" y="4206240"/>
            <a:ext cx="5166360" cy="2286000"/>
          </a:xfrm>
          <a:prstGeom prst="rect">
            <a:avLst/>
          </a:prstGeom>
          <a:solidFill>
            <a:srgbClr val="D9F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315968"/>
            <a:ext cx="4846320" cy="365760"/>
          </a:xfrm>
          <a:prstGeom prst="rect">
            <a:avLst/>
          </a:prstGeom>
          <a:noFill/>
        </p:spPr>
        <p:txBody>
          <a:bodyPr wrap="square" anchor="t" lIns="0" rIns="0">
            <a:spAutoFit/>
          </a:bodyPr>
          <a:lstStyle/>
          <a:p>
            <a:pPr algn="l"/>
            <a:r>
              <a:rPr sz="1600" b="1">
                <a:solidFill>
                  <a:srgbClr val="1E2761"/>
                </a:solidFill>
                <a:latin typeface="Calibri"/>
              </a:rPr>
              <a:t>Opportunities</a:t>
            </a:r>
          </a:p>
        </p:txBody>
      </p:sp>
      <p:sp>
        <p:nvSpPr>
          <p:cNvPr id="12" name="TextBox 11"/>
          <p:cNvSpPr txBox="1"/>
          <p:nvPr/>
        </p:nvSpPr>
        <p:spPr>
          <a:xfrm>
            <a:off x="822960" y="4754880"/>
            <a:ext cx="4800600" cy="1645920"/>
          </a:xfrm>
          <a:prstGeom prst="rect">
            <a:avLst/>
          </a:prstGeom>
          <a:noFill/>
        </p:spPr>
        <p:txBody>
          <a:bodyPr wrap="square">
            <a:spAutoFit/>
          </a:bodyPr>
          <a:lstStyle/>
          <a:p>
            <a:pPr>
              <a:spcAft>
                <a:spcPts val="600"/>
              </a:spcAft>
            </a:pPr>
            <a:r>
              <a:rPr sz="1200">
                <a:solidFill>
                  <a:srgbClr val="212934"/>
                </a:solidFill>
                <a:latin typeface="Calibri"/>
              </a:rPr>
              <a:t>• End-to-end AI platform adoption is accelerating, unlocking demand for higher-value, integrated suites.</a:t>
            </a:r>
          </a:p>
          <a:p>
            <a:pPr>
              <a:spcAft>
                <a:spcPts val="600"/>
              </a:spcAft>
            </a:pPr>
            <a:r>
              <a:rPr sz="1200">
                <a:solidFill>
                  <a:srgbClr val="212934"/>
                </a:solidFill>
                <a:latin typeface="Calibri"/>
              </a:rPr>
              <a:t>• EU policy tailwinds from 2025 onward create a clear expansion lane for compliance-ready offerings.</a:t>
            </a:r>
          </a:p>
          <a:p>
            <a:pPr>
              <a:spcAft>
                <a:spcPts val="600"/>
              </a:spcAft>
            </a:pPr>
            <a:r>
              <a:rPr sz="1200">
                <a:solidFill>
                  <a:srgbClr val="212934"/>
                </a:solidFill>
                <a:latin typeface="Calibri"/>
              </a:rPr>
              <a:t>• A deepening developer ecosystem signals durable, compounding growth at the AI application layer.</a:t>
            </a:r>
          </a:p>
        </p:txBody>
      </p:sp>
      <p:sp>
        <p:nvSpPr>
          <p:cNvPr id="13" name="Rectangle 12"/>
          <p:cNvSpPr/>
          <p:nvPr/>
        </p:nvSpPr>
        <p:spPr>
          <a:xfrm>
            <a:off x="6355080" y="4206240"/>
            <a:ext cx="5166360" cy="2286000"/>
          </a:xfrm>
          <a:prstGeom prst="rect">
            <a:avLst/>
          </a:prstGeom>
          <a:solidFill>
            <a:srgbClr val="F6E7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4315968"/>
            <a:ext cx="4846320" cy="365760"/>
          </a:xfrm>
          <a:prstGeom prst="rect">
            <a:avLst/>
          </a:prstGeom>
          <a:noFill/>
        </p:spPr>
        <p:txBody>
          <a:bodyPr wrap="square" anchor="t" lIns="0" rIns="0">
            <a:spAutoFit/>
          </a:bodyPr>
          <a:lstStyle/>
          <a:p>
            <a:pPr algn="l"/>
            <a:r>
              <a:rPr sz="1600" b="1">
                <a:solidFill>
                  <a:srgbClr val="1E2761"/>
                </a:solidFill>
                <a:latin typeface="Calibri"/>
              </a:rPr>
              <a:t>Threats</a:t>
            </a:r>
          </a:p>
        </p:txBody>
      </p:sp>
      <p:sp>
        <p:nvSpPr>
          <p:cNvPr id="15" name="TextBox 14"/>
          <p:cNvSpPr txBox="1"/>
          <p:nvPr/>
        </p:nvSpPr>
        <p:spPr>
          <a:xfrm>
            <a:off x="6537960" y="4754880"/>
            <a:ext cx="4800600" cy="1645920"/>
          </a:xfrm>
          <a:prstGeom prst="rect">
            <a:avLst/>
          </a:prstGeom>
          <a:noFill/>
        </p:spPr>
        <p:txBody>
          <a:bodyPr wrap="square">
            <a:spAutoFit/>
          </a:bodyPr>
          <a:lstStyle/>
          <a:p>
            <a:pPr>
              <a:spcAft>
                <a:spcPts val="600"/>
              </a:spcAft>
            </a:pPr>
            <a:r>
              <a:rPr sz="1200">
                <a:solidFill>
                  <a:srgbClr val="212934"/>
                </a:solidFill>
                <a:latin typeface="Calibri"/>
              </a:rPr>
              <a:t>• Hyperscaler innovation and specialized MLOps entrants are compressing margins and accelerating platform commoditization.</a:t>
            </a:r>
          </a:p>
          <a:p>
            <a:pPr>
              <a:spcAft>
                <a:spcPts val="600"/>
              </a:spcAft>
            </a:pPr>
            <a:r>
              <a:rPr sz="1200">
                <a:solidFill>
                  <a:srgbClr val="212934"/>
                </a:solidFill>
                <a:latin typeface="Calibri"/>
              </a:rPr>
              <a:t>• Expanding cross-regional regulatory requirements are increasing compliance overhead and lengthening sales cycles.</a:t>
            </a:r>
          </a:p>
          <a:p>
            <a:pPr>
              <a:spcAft>
                <a:spcPts val="600"/>
              </a:spcAft>
            </a:pPr>
            <a:r>
              <a:rPr sz="1200">
                <a:solidFill>
                  <a:srgbClr val="212934"/>
                </a:solidFill>
                <a:latin typeface="Calibri"/>
              </a:rPr>
              <a:t>• Rising demand for platform-agnostic, multi-model architectures is eroding provider lock-in and intensifying switching risk.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365760"/>
          </a:xfrm>
          <a:prstGeom prst="rect">
            <a:avLst/>
          </a:prstGeom>
          <a:noFill/>
        </p:spPr>
        <p:txBody>
          <a:bodyPr wrap="square" anchor="t" lIns="0" rIns="0">
            <a:spAutoFit/>
          </a:bodyPr>
          <a:lstStyle/>
          <a:p>
            <a:pPr algn="l"/>
            <a:r>
              <a:rPr sz="1300" b="1">
                <a:solidFill>
                  <a:srgbClr val="5A6472"/>
                </a:solidFill>
                <a:latin typeface="Calibri"/>
              </a:rPr>
              <a:t>LANDSCAPE</a:t>
            </a:r>
          </a:p>
        </p:txBody>
      </p:sp>
      <p:sp>
        <p:nvSpPr>
          <p:cNvPr id="3" name="TextBox 2"/>
          <p:cNvSpPr txBox="1"/>
          <p:nvPr/>
        </p:nvSpPr>
        <p:spPr>
          <a:xfrm>
            <a:off x="640080" y="822960"/>
            <a:ext cx="10972800" cy="731520"/>
          </a:xfrm>
          <a:prstGeom prst="rect">
            <a:avLst/>
          </a:prstGeom>
          <a:noFill/>
        </p:spPr>
        <p:txBody>
          <a:bodyPr wrap="square" anchor="t" lIns="0" rIns="0">
            <a:spAutoFit/>
          </a:bodyPr>
          <a:lstStyle/>
          <a:p>
            <a:pPr algn="l"/>
            <a:r>
              <a:rPr sz="3200" b="1">
                <a:solidFill>
                  <a:srgbClr val="1E2761"/>
                </a:solidFill>
                <a:latin typeface="Calibri"/>
              </a:rPr>
              <a:t>Key Competitors</a:t>
            </a:r>
          </a:p>
        </p:txBody>
      </p:sp>
      <p:graphicFrame>
        <p:nvGraphicFramePr>
          <p:cNvPr id="4" name="Table 3"/>
          <p:cNvGraphicFramePr>
            <a:graphicFrameLocks noGrp="1"/>
          </p:cNvGraphicFramePr>
          <p:nvPr/>
        </p:nvGraphicFramePr>
        <p:xfrm>
          <a:off x="640080" y="1737360"/>
          <a:ext cx="10881360" cy="1097280"/>
        </p:xfrm>
        <a:graphic>
          <a:graphicData uri="http://schemas.openxmlformats.org/drawingml/2006/table">
            <a:tbl>
              <a:tblPr firstRow="1" bandRow="1">
                <a:tableStyleId>{5C22544A-7EE6-4342-B048-85BDC9FD1C3A}</a:tableStyleId>
              </a:tblPr>
              <a:tblGrid>
                <a:gridCol w="3017520"/>
                <a:gridCol w="7863840"/>
              </a:tblGrid>
              <a:tr h="365760">
                <a:tc>
                  <a:txBody>
                    <a:bodyPr/>
                    <a:lstStyle/>
                    <a:p>
                      <a:r>
                        <a:rPr b="1" sz="1300">
                          <a:solidFill>
                            <a:srgbClr val="FFFFFF"/>
                          </a:solidFill>
                        </a:rPr>
                        <a:t>Competitor</a:t>
                      </a:r>
                    </a:p>
                  </a:txBody>
                  <a:tcPr>
                    <a:solidFill>
                      <a:srgbClr val="1E2761"/>
                    </a:solidFill>
                  </a:tcPr>
                </a:tc>
                <a:tc>
                  <a:txBody>
                    <a:bodyPr/>
                    <a:lstStyle/>
                    <a:p>
                      <a:r>
                        <a:rPr b="1" sz="1300">
                          <a:solidFill>
                            <a:srgbClr val="FFFFFF"/>
                          </a:solidFill>
                        </a:rPr>
                        <a:t>Positioning / Note</a:t>
                      </a:r>
                    </a:p>
                  </a:txBody>
                  <a:tcPr>
                    <a:solidFill>
                      <a:srgbClr val="1E2761"/>
                    </a:solidFill>
                  </a:tcPr>
                </a:tc>
              </a:tr>
              <a:tr h="365760">
                <a:tc>
                  <a:txBody>
                    <a:bodyPr/>
                    <a:lstStyle/>
                    <a:p>
                      <a:r>
                        <a:rPr sz="1200">
                          <a:solidFill>
                            <a:srgbClr val="212934"/>
                          </a:solidFill>
                        </a:rPr>
                        <a:t>Anthropic</a:t>
                      </a:r>
                    </a:p>
                  </a:txBody>
                  <a:tcPr/>
                </a:tc>
                <a:tc>
                  <a:txBody>
                    <a:bodyPr/>
                    <a:lstStyle/>
                    <a:p>
                      <a:r>
                        <a:rPr sz="1200">
                          <a:solidFill>
                            <a:srgbClr val="212934"/>
                          </a:solidFill>
                        </a:rPr>
                        <a:t>Safety-focused frontier AI models (Claude) and platform for enterprises and developers wit</a:t>
                      </a:r>
                    </a:p>
                  </a:txBody>
                  <a:tcPr/>
                </a:tc>
              </a:tr>
              <a:tr h="365760">
                <a:tc>
                  <a:txBody>
                    <a:bodyPr/>
                    <a:lstStyle/>
                    <a:p>
                      <a:r>
                        <a:rPr sz="1200">
                          <a:solidFill>
                            <a:srgbClr val="212934"/>
                          </a:solidFill>
                        </a:rPr>
                        <a:t>Google (Google DeepMind / Google Cloud)</a:t>
                      </a:r>
                    </a:p>
                  </a:txBody>
                  <a:tcPr/>
                </a:tc>
                <a:tc>
                  <a:txBody>
                    <a:bodyPr/>
                    <a:lstStyle/>
                    <a:p>
                      <a:r>
                        <a:rPr sz="1200">
                          <a:solidFill>
                            <a:srgbClr val="212934"/>
                          </a:solidFill>
                        </a:rPr>
                        <a:t>End-to-end AI models (Gemini family) integrated across consumer apps and Google Cloud’s AI</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365760"/>
          </a:xfrm>
          <a:prstGeom prst="rect">
            <a:avLst/>
          </a:prstGeom>
          <a:noFill/>
        </p:spPr>
        <p:txBody>
          <a:bodyPr wrap="square" anchor="t" lIns="0" rIns="0">
            <a:spAutoFit/>
          </a:bodyPr>
          <a:lstStyle/>
          <a:p>
            <a:pPr algn="l"/>
            <a:r>
              <a:rPr sz="1300" b="1">
                <a:solidFill>
                  <a:srgbClr val="5A6472"/>
                </a:solidFill>
                <a:latin typeface="Calibri"/>
              </a:rPr>
              <a:t>GO-TO-MARKET</a:t>
            </a:r>
          </a:p>
        </p:txBody>
      </p:sp>
      <p:sp>
        <p:nvSpPr>
          <p:cNvPr id="3" name="TextBox 2"/>
          <p:cNvSpPr txBox="1"/>
          <p:nvPr/>
        </p:nvSpPr>
        <p:spPr>
          <a:xfrm>
            <a:off x="640080" y="822960"/>
            <a:ext cx="10972800" cy="731520"/>
          </a:xfrm>
          <a:prstGeom prst="rect">
            <a:avLst/>
          </a:prstGeom>
          <a:noFill/>
        </p:spPr>
        <p:txBody>
          <a:bodyPr wrap="square" anchor="t" lIns="0" rIns="0">
            <a:spAutoFit/>
          </a:bodyPr>
          <a:lstStyle/>
          <a:p>
            <a:pPr algn="l"/>
            <a:r>
              <a:rPr sz="3200" b="1">
                <a:solidFill>
                  <a:srgbClr val="1E2761"/>
                </a:solidFill>
                <a:latin typeface="Calibri"/>
              </a:rPr>
              <a:t>Strategy</a:t>
            </a:r>
          </a:p>
        </p:txBody>
      </p:sp>
      <p:sp>
        <p:nvSpPr>
          <p:cNvPr id="4" name="TextBox 3"/>
          <p:cNvSpPr txBox="1"/>
          <p:nvPr/>
        </p:nvSpPr>
        <p:spPr>
          <a:xfrm>
            <a:off x="640080" y="1691640"/>
            <a:ext cx="10881360" cy="822960"/>
          </a:xfrm>
          <a:prstGeom prst="rect">
            <a:avLst/>
          </a:prstGeom>
          <a:noFill/>
        </p:spPr>
        <p:txBody>
          <a:bodyPr wrap="square" anchor="t" lIns="0" rIns="0">
            <a:spAutoFit/>
          </a:bodyPr>
          <a:lstStyle/>
          <a:p>
            <a:pPr algn="l"/>
            <a:r>
              <a:rPr sz="1600" b="1">
                <a:solidFill>
                  <a:srgbClr val="1E2761"/>
                </a:solidFill>
                <a:latin typeface="Calibri"/>
              </a:rPr>
              <a:t>North Star: </a:t>
            </a:r>
          </a:p>
          <a:p>
            <a:pPr algn="l"/>
            <a:r>
              <a:rPr sz="1600" b="0">
                <a:solidFill>
                  <a:srgbClr val="212934"/>
                </a:solidFill>
                <a:latin typeface="Calibri"/>
              </a:rPr>
              <a:t>Win enterprise AI platform budgets by owning secure, compliant, cost-efficient generative AI and agent lifecycle tooling for North America-first global enterprises and developers, monetized via API consumption, enterprise suites, and agent platform seats with ecosystem lock-in.</a:t>
            </a:r>
          </a:p>
        </p:txBody>
      </p:sp>
      <p:sp>
        <p:nvSpPr>
          <p:cNvPr id="5" name="TextBox 4"/>
          <p:cNvSpPr txBox="1"/>
          <p:nvPr/>
        </p:nvSpPr>
        <p:spPr>
          <a:xfrm>
            <a:off x="640080" y="2514600"/>
            <a:ext cx="10881360" cy="1005840"/>
          </a:xfrm>
          <a:prstGeom prst="rect">
            <a:avLst/>
          </a:prstGeom>
          <a:noFill/>
        </p:spPr>
        <p:txBody>
          <a:bodyPr wrap="square" anchor="t" lIns="0" rIns="0">
            <a:spAutoFit/>
          </a:bodyPr>
          <a:lstStyle/>
          <a:p>
            <a:pPr algn="l"/>
            <a:r>
              <a:rPr sz="1500" b="1">
                <a:solidFill>
                  <a:srgbClr val="1E2761"/>
                </a:solidFill>
                <a:latin typeface="Calibri"/>
              </a:rPr>
              <a:t>Positioning. </a:t>
            </a:r>
          </a:p>
          <a:p>
            <a:pPr algn="l"/>
            <a:r>
              <a:rPr sz="1400" b="0">
                <a:solidFill>
                  <a:srgbClr val="212934"/>
                </a:solidFill>
                <a:latin typeface="Calibri"/>
              </a:rPr>
              <a:t>For enterprise AI platform owners and startup builders who need secure, compliant, and cost‑efficient generative AI at scale, OpenAI is the AI research and deployment platform that delivers frontier model performance plus end‑to‑end governance and agent lifecycle tools. Unlike hyperscalers and single‑lab point APIs, we combine best‑in‑class models with enterprise governance, multi‑model openness, and a first‑party agent framework that reduces total cost and accelerates time‑to‑value.</a:t>
            </a:r>
          </a:p>
        </p:txBody>
      </p:sp>
      <p:sp>
        <p:nvSpPr>
          <p:cNvPr id="6" name="TextBox 5"/>
          <p:cNvSpPr txBox="1"/>
          <p:nvPr/>
        </p:nvSpPr>
        <p:spPr>
          <a:xfrm>
            <a:off x="640080" y="3611880"/>
            <a:ext cx="5120640" cy="365760"/>
          </a:xfrm>
          <a:prstGeom prst="rect">
            <a:avLst/>
          </a:prstGeom>
          <a:noFill/>
        </p:spPr>
        <p:txBody>
          <a:bodyPr wrap="square" anchor="t" lIns="0" rIns="0">
            <a:spAutoFit/>
          </a:bodyPr>
          <a:lstStyle/>
          <a:p>
            <a:pPr algn="l"/>
            <a:r>
              <a:rPr sz="1500" b="1">
                <a:solidFill>
                  <a:srgbClr val="1E2761"/>
                </a:solidFill>
                <a:latin typeface="Calibri"/>
              </a:rPr>
              <a:t>Competitive Wedge</a:t>
            </a:r>
          </a:p>
        </p:txBody>
      </p:sp>
      <p:sp>
        <p:nvSpPr>
          <p:cNvPr id="7" name="TextBox 6"/>
          <p:cNvSpPr txBox="1"/>
          <p:nvPr/>
        </p:nvSpPr>
        <p:spPr>
          <a:xfrm>
            <a:off x="640080" y="4023360"/>
            <a:ext cx="5120640" cy="2194560"/>
          </a:xfrm>
          <a:prstGeom prst="rect">
            <a:avLst/>
          </a:prstGeom>
          <a:noFill/>
        </p:spPr>
        <p:txBody>
          <a:bodyPr wrap="square">
            <a:spAutoFit/>
          </a:bodyPr>
          <a:lstStyle/>
          <a:p>
            <a:pPr>
              <a:spcAft>
                <a:spcPts val="600"/>
              </a:spcAft>
            </a:pPr>
            <a:r>
              <a:rPr sz="1200">
                <a:solidFill>
                  <a:srgbClr val="212934"/>
                </a:solidFill>
                <a:latin typeface="Calibri"/>
              </a:rPr>
              <a:t>• Enterprise-grade governance and agent lifecycle on top of frontier performance—open to multi-model, optimized for cost and reliability.</a:t>
            </a:r>
          </a:p>
          <a:p>
            <a:pPr>
              <a:spcAft>
                <a:spcPts val="600"/>
              </a:spcAft>
            </a:pPr>
            <a:r>
              <a:rPr sz="1200">
                <a:solidFill>
                  <a:srgbClr val="212934"/>
                </a:solidFill>
                <a:latin typeface="Calibri"/>
              </a:rPr>
              <a:t>• Choose best-of-breed AI platform with governance and agent tooling that integrates across your existing clouds and apps—without productivity-suite lock-in.</a:t>
            </a:r>
          </a:p>
        </p:txBody>
      </p:sp>
      <p:sp>
        <p:nvSpPr>
          <p:cNvPr id="8" name="TextBox 7"/>
          <p:cNvSpPr txBox="1"/>
          <p:nvPr/>
        </p:nvSpPr>
        <p:spPr>
          <a:xfrm>
            <a:off x="6126480" y="3611880"/>
            <a:ext cx="5394960" cy="365760"/>
          </a:xfrm>
          <a:prstGeom prst="rect">
            <a:avLst/>
          </a:prstGeom>
          <a:noFill/>
        </p:spPr>
        <p:txBody>
          <a:bodyPr wrap="square" anchor="t" lIns="0" rIns="0">
            <a:spAutoFit/>
          </a:bodyPr>
          <a:lstStyle/>
          <a:p>
            <a:pPr algn="l"/>
            <a:r>
              <a:rPr sz="1500" b="1">
                <a:solidFill>
                  <a:srgbClr val="1E2761"/>
                </a:solidFill>
                <a:latin typeface="Calibri"/>
              </a:rPr>
              <a:t>Motion: Enterprise-led platform motion targeting F500–F2000 AI/ML Platform Owners with governance, compliance, agents, and multi-model routing.</a:t>
            </a:r>
          </a:p>
        </p:txBody>
      </p:sp>
      <p:sp>
        <p:nvSpPr>
          <p:cNvPr id="9" name="TextBox 8"/>
          <p:cNvSpPr txBox="1"/>
          <p:nvPr/>
        </p:nvSpPr>
        <p:spPr>
          <a:xfrm>
            <a:off x="6126480" y="4023360"/>
            <a:ext cx="5394960" cy="2194560"/>
          </a:xfrm>
          <a:prstGeom prst="rect">
            <a:avLst/>
          </a:prstGeom>
          <a:noFill/>
        </p:spPr>
        <p:txBody>
          <a:bodyPr wrap="square">
            <a:spAutoFit/>
          </a:bodyPr>
          <a:lstStyle/>
          <a:p>
            <a:pPr>
              <a:spcAft>
                <a:spcPts val="600"/>
              </a:spcAft>
            </a:pPr>
            <a:r>
              <a:rPr sz="1200">
                <a:solidFill>
                  <a:srgbClr val="212934"/>
                </a:solidFill>
                <a:latin typeface="Calibri"/>
              </a:rPr>
              <a:t>→ Weeks 1–4 (Foundations): Lock enterprise trust motion, measurement, and partner scaffolding.</a:t>
            </a:r>
          </a:p>
          <a:p>
            <a:pPr>
              <a:spcAft>
                <a:spcPts val="600"/>
              </a:spcAft>
            </a:pPr>
            <a:r>
              <a:rPr sz="1200">
                <a:solidFill>
                  <a:srgbClr val="212934"/>
                </a:solidFill>
                <a:latin typeface="Calibri"/>
              </a:rPr>
              <a:t>→ Weeks 5–8 (Activate): Prove value with lighthouse customers and launch demand engine.</a:t>
            </a:r>
          </a:p>
          <a:p>
            <a:pPr>
              <a:spcAft>
                <a:spcPts val="600"/>
              </a:spcAft>
            </a:pPr>
            <a:r>
              <a:rPr sz="1200">
                <a:solidFill>
                  <a:srgbClr val="212934"/>
                </a:solidFill>
                <a:latin typeface="Calibri"/>
              </a:rPr>
              <a:t>→ Weeks 9–13 (Scale): Convert, expand, and operationalize EU and partner motions.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365760"/>
          </a:xfrm>
          <a:prstGeom prst="rect">
            <a:avLst/>
          </a:prstGeom>
          <a:noFill/>
        </p:spPr>
        <p:txBody>
          <a:bodyPr wrap="square" anchor="t" lIns="0" rIns="0">
            <a:spAutoFit/>
          </a:bodyPr>
          <a:lstStyle/>
          <a:p>
            <a:pPr algn="l"/>
            <a:r>
              <a:rPr sz="1300" b="1">
                <a:solidFill>
                  <a:srgbClr val="5A6472"/>
                </a:solidFill>
                <a:latin typeface="Calibri"/>
              </a:rPr>
              <a:t>MARKETING CONTENT (PHASE B)</a:t>
            </a:r>
          </a:p>
        </p:txBody>
      </p:sp>
      <p:sp>
        <p:nvSpPr>
          <p:cNvPr id="3" name="TextBox 2"/>
          <p:cNvSpPr txBox="1"/>
          <p:nvPr/>
        </p:nvSpPr>
        <p:spPr>
          <a:xfrm>
            <a:off x="640080" y="822960"/>
            <a:ext cx="10972800" cy="731520"/>
          </a:xfrm>
          <a:prstGeom prst="rect">
            <a:avLst/>
          </a:prstGeom>
          <a:noFill/>
        </p:spPr>
        <p:txBody>
          <a:bodyPr wrap="square" anchor="t" lIns="0" rIns="0">
            <a:spAutoFit/>
          </a:bodyPr>
          <a:lstStyle/>
          <a:p>
            <a:pPr algn="l"/>
            <a:r>
              <a:rPr sz="3200" b="1">
                <a:solidFill>
                  <a:srgbClr val="1E2761"/>
                </a:solidFill>
                <a:latin typeface="Calibri"/>
              </a:rPr>
              <a:t>Launch-Ready Assets</a:t>
            </a:r>
          </a:p>
        </p:txBody>
      </p:sp>
      <p:sp>
        <p:nvSpPr>
          <p:cNvPr id="4" name="Rectangle 3"/>
          <p:cNvSpPr/>
          <p:nvPr/>
        </p:nvSpPr>
        <p:spPr>
          <a:xfrm>
            <a:off x="640080" y="1737360"/>
            <a:ext cx="3566160" cy="42062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74519"/>
            <a:ext cx="3108960" cy="365760"/>
          </a:xfrm>
          <a:prstGeom prst="rect">
            <a:avLst/>
          </a:prstGeom>
          <a:noFill/>
        </p:spPr>
        <p:txBody>
          <a:bodyPr wrap="square" anchor="t" lIns="0" rIns="0">
            <a:spAutoFit/>
          </a:bodyPr>
          <a:lstStyle/>
          <a:p>
            <a:pPr algn="l"/>
            <a:r>
              <a:rPr sz="1700" b="1">
                <a:solidFill>
                  <a:srgbClr val="1E2761"/>
                </a:solidFill>
                <a:latin typeface="Calibri"/>
              </a:rPr>
              <a:t>LinkedIn</a:t>
            </a:r>
          </a:p>
        </p:txBody>
      </p:sp>
      <p:sp>
        <p:nvSpPr>
          <p:cNvPr id="6" name="TextBox 5"/>
          <p:cNvSpPr txBox="1"/>
          <p:nvPr/>
        </p:nvSpPr>
        <p:spPr>
          <a:xfrm>
            <a:off x="868680" y="2377440"/>
            <a:ext cx="3154680" cy="3383280"/>
          </a:xfrm>
          <a:prstGeom prst="rect">
            <a:avLst/>
          </a:prstGeom>
          <a:noFill/>
        </p:spPr>
        <p:txBody>
          <a:bodyPr wrap="square">
            <a:spAutoFit/>
          </a:bodyPr>
          <a:lstStyle/>
          <a:p>
            <a:pPr>
              <a:spcAft>
                <a:spcPts val="600"/>
              </a:spcAft>
            </a:pPr>
            <a:r>
              <a:rPr sz="1200">
                <a:solidFill>
                  <a:srgbClr val="212934"/>
                </a:solidFill>
                <a:latin typeface="Calibri"/>
              </a:rPr>
              <a:t>• Models don’t win. Platforms do—governed ones.</a:t>
            </a:r>
          </a:p>
          <a:p>
            <a:pPr>
              <a:spcAft>
                <a:spcPts val="600"/>
              </a:spcAft>
            </a:pPr>
            <a:r>
              <a:rPr sz="1200">
                <a:solidFill>
                  <a:srgbClr val="212934"/>
                </a:solidFill>
                <a:latin typeface="Calibri"/>
              </a:rPr>
              <a:t>• Cloud wins—governance decides the budget.</a:t>
            </a:r>
          </a:p>
          <a:p>
            <a:pPr>
              <a:spcAft>
                <a:spcPts val="600"/>
              </a:spcAft>
            </a:pPr>
            <a:r>
              <a:rPr sz="1200">
                <a:solidFill>
                  <a:srgbClr val="212934"/>
                </a:solidFill>
                <a:latin typeface="Calibri"/>
              </a:rPr>
              <a:t>• Agents are the new UI. Governance is the runtime.</a:t>
            </a:r>
          </a:p>
        </p:txBody>
      </p:sp>
      <p:sp>
        <p:nvSpPr>
          <p:cNvPr id="7" name="Rectangle 6"/>
          <p:cNvSpPr/>
          <p:nvPr/>
        </p:nvSpPr>
        <p:spPr>
          <a:xfrm>
            <a:off x="4343400" y="1737360"/>
            <a:ext cx="3566160" cy="42062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74519"/>
            <a:ext cx="3108960" cy="365760"/>
          </a:xfrm>
          <a:prstGeom prst="rect">
            <a:avLst/>
          </a:prstGeom>
          <a:noFill/>
        </p:spPr>
        <p:txBody>
          <a:bodyPr wrap="square" anchor="t" lIns="0" rIns="0">
            <a:spAutoFit/>
          </a:bodyPr>
          <a:lstStyle/>
          <a:p>
            <a:pPr algn="l"/>
            <a:r>
              <a:rPr sz="1700" b="1">
                <a:solidFill>
                  <a:srgbClr val="1E2761"/>
                </a:solidFill>
                <a:latin typeface="Calibri"/>
              </a:rPr>
              <a:t>Blog</a:t>
            </a:r>
          </a:p>
        </p:txBody>
      </p:sp>
      <p:sp>
        <p:nvSpPr>
          <p:cNvPr id="9" name="TextBox 8"/>
          <p:cNvSpPr txBox="1"/>
          <p:nvPr/>
        </p:nvSpPr>
        <p:spPr>
          <a:xfrm>
            <a:off x="4572000" y="2377440"/>
            <a:ext cx="3154680" cy="3383280"/>
          </a:xfrm>
          <a:prstGeom prst="rect">
            <a:avLst/>
          </a:prstGeom>
          <a:noFill/>
        </p:spPr>
        <p:txBody>
          <a:bodyPr wrap="square">
            <a:spAutoFit/>
          </a:bodyPr>
          <a:lstStyle/>
          <a:p>
            <a:pPr>
              <a:spcAft>
                <a:spcPts val="600"/>
              </a:spcAft>
            </a:pPr>
            <a:r>
              <a:rPr sz="1200">
                <a:solidFill>
                  <a:srgbClr val="212934"/>
                </a:solidFill>
                <a:latin typeface="Calibri"/>
              </a:rPr>
              <a:t>• Enterprise AI Governance: The Missing Layer Between Models and Value</a:t>
            </a:r>
          </a:p>
          <a:p>
            <a:pPr>
              <a:spcAft>
                <a:spcPts val="600"/>
              </a:spcAft>
            </a:pPr>
            <a:r>
              <a:rPr sz="1200">
                <a:solidFill>
                  <a:srgbClr val="212934"/>
                </a:solidFill>
                <a:latin typeface="Calibri"/>
              </a:rPr>
              <a:t>• From Model Choice to Platform Strategy: A Practical Guide for AI Leaders</a:t>
            </a:r>
          </a:p>
        </p:txBody>
      </p:sp>
      <p:sp>
        <p:nvSpPr>
          <p:cNvPr id="10" name="Rectangle 9"/>
          <p:cNvSpPr/>
          <p:nvPr/>
        </p:nvSpPr>
        <p:spPr>
          <a:xfrm>
            <a:off x="8046720" y="1737360"/>
            <a:ext cx="3566160" cy="42062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874519"/>
            <a:ext cx="3108960" cy="365760"/>
          </a:xfrm>
          <a:prstGeom prst="rect">
            <a:avLst/>
          </a:prstGeom>
          <a:noFill/>
        </p:spPr>
        <p:txBody>
          <a:bodyPr wrap="square" anchor="t" lIns="0" rIns="0">
            <a:spAutoFit/>
          </a:bodyPr>
          <a:lstStyle/>
          <a:p>
            <a:pPr algn="l"/>
            <a:r>
              <a:rPr sz="1700" b="1">
                <a:solidFill>
                  <a:srgbClr val="1E2761"/>
                </a:solidFill>
                <a:latin typeface="Calibri"/>
              </a:rPr>
              <a:t>Email</a:t>
            </a:r>
          </a:p>
        </p:txBody>
      </p:sp>
      <p:sp>
        <p:nvSpPr>
          <p:cNvPr id="12" name="TextBox 11"/>
          <p:cNvSpPr txBox="1"/>
          <p:nvPr/>
        </p:nvSpPr>
        <p:spPr>
          <a:xfrm>
            <a:off x="8275320" y="2377440"/>
            <a:ext cx="3154680" cy="3383280"/>
          </a:xfrm>
          <a:prstGeom prst="rect">
            <a:avLst/>
          </a:prstGeom>
          <a:noFill/>
        </p:spPr>
        <p:txBody>
          <a:bodyPr wrap="square">
            <a:spAutoFit/>
          </a:bodyPr>
          <a:lstStyle/>
          <a:p>
            <a:pPr>
              <a:spcAft>
                <a:spcPts val="600"/>
              </a:spcAft>
            </a:pPr>
            <a:r>
              <a:rPr sz="1200">
                <a:solidFill>
                  <a:srgbClr val="212934"/>
                </a:solidFill>
                <a:latin typeface="Calibri"/>
              </a:rPr>
              <a:t>• Your AI platform is missing the control plane (and it’s costing you)</a:t>
            </a:r>
          </a:p>
          <a:p>
            <a:pPr>
              <a:spcAft>
                <a:spcPts val="600"/>
              </a:spcAft>
            </a:pPr>
            <a:r>
              <a:rPr sz="1200">
                <a:solidFill>
                  <a:srgbClr val="212934"/>
                </a:solidFill>
                <a:latin typeface="Calibri"/>
              </a:rPr>
              <a:t>• Governance turns demos into dependable AI products—here’s the checklist</a:t>
            </a:r>
          </a:p>
          <a:p>
            <a:pPr>
              <a:spcAft>
                <a:spcPts val="600"/>
              </a:spcAft>
            </a:pPr>
            <a:r>
              <a:rPr sz="1200">
                <a:solidFill>
                  <a:srgbClr val="212934"/>
                </a:solidFill>
                <a:latin typeface="Calibri"/>
              </a:rPr>
              <a:t>• Now available: Multi‑model governance and agent lifecycle for enterprise scale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822960" y="640080"/>
            <a:ext cx="10515600" cy="731520"/>
          </a:xfrm>
          <a:prstGeom prst="rect">
            <a:avLst/>
          </a:prstGeom>
          <a:noFill/>
        </p:spPr>
        <p:txBody>
          <a:bodyPr wrap="square" anchor="t" lIns="0" rIns="0">
            <a:spAutoFit/>
          </a:bodyPr>
          <a:lstStyle/>
          <a:p>
            <a:pPr algn="l"/>
            <a:r>
              <a:rPr sz="3200" b="1">
                <a:solidFill>
                  <a:srgbClr val="FFFFFF"/>
                </a:solidFill>
                <a:latin typeface="Calibri"/>
              </a:rPr>
              <a:t>Recommendations</a:t>
            </a:r>
          </a:p>
        </p:txBody>
      </p:sp>
      <p:sp>
        <p:nvSpPr>
          <p:cNvPr id="3" name="TextBox 2"/>
          <p:cNvSpPr txBox="1"/>
          <p:nvPr/>
        </p:nvSpPr>
        <p:spPr>
          <a:xfrm>
            <a:off x="822960" y="1737360"/>
            <a:ext cx="10515600" cy="4389120"/>
          </a:xfrm>
          <a:prstGeom prst="rect">
            <a:avLst/>
          </a:prstGeom>
          <a:noFill/>
        </p:spPr>
        <p:txBody>
          <a:bodyPr wrap="square">
            <a:spAutoFit/>
          </a:bodyPr>
          <a:lstStyle/>
          <a:p>
            <a:pPr>
              <a:spcAft>
                <a:spcPts val="600"/>
              </a:spcAft>
            </a:pPr>
            <a:r>
              <a:rPr sz="1800">
                <a:solidFill>
                  <a:srgbClr val="CADCFC"/>
                </a:solidFill>
                <a:latin typeface="Calibri"/>
              </a:rPr>
              <a:t>• Enterprise-grade governance suite—auditability, data residency, model evals—removes regulatory blockers and accelerates regulated-industry conversion.</a:t>
            </a:r>
          </a:p>
          <a:p>
            <a:pPr>
              <a:spcAft>
                <a:spcPts val="600"/>
              </a:spcAft>
            </a:pPr>
            <a:r>
              <a:rPr sz="1800">
                <a:solidFill>
                  <a:srgbClr val="CADCFC"/>
                </a:solidFill>
                <a:latin typeface="Calibri"/>
              </a:rPr>
              <a:t>• Strategic compute and model-serving partnerships lock in cost-down commitments and latency SLAs, directly offsetting inference-cost exposure.</a:t>
            </a:r>
          </a:p>
          <a:p>
            <a:pPr>
              <a:spcAft>
                <a:spcPts val="600"/>
              </a:spcAft>
            </a:pPr>
            <a:r>
              <a:rPr sz="1800">
                <a:solidFill>
                  <a:srgbClr val="CADCFC"/>
                </a:solidFill>
                <a:latin typeface="Calibri"/>
              </a:rPr>
              <a:t>• Proprietary agent framework with monitoring, rollback, and policy controls differentiates the platform beyond models and captures full-stack spend.</a:t>
            </a:r>
          </a:p>
          <a:p>
            <a:pPr>
              <a:spcAft>
                <a:spcPts val="600"/>
              </a:spcAft>
            </a:pPr>
            <a:r>
              <a:rPr sz="1800">
                <a:solidFill>
                  <a:srgbClr val="CADCFC"/>
                </a:solidFill>
                <a:latin typeface="Calibri"/>
              </a:rPr>
              <a:t>• Europe-dedicated GTM—regional hosting, local certifications, SI partnerships—monetizes policy-driven demand and diversifies revenue concentration.</a:t>
            </a:r>
          </a:p>
          <a:p>
            <a:pPr>
              <a:spcAft>
                <a:spcPts val="600"/>
              </a:spcAft>
            </a:pPr>
            <a:r>
              <a:rPr sz="1800">
                <a:solidFill>
                  <a:srgbClr val="CADCFC"/>
                </a:solidFill>
                <a:latin typeface="Calibri"/>
              </a:rPr>
              <a:t>• Multi-model routing and bring-your-own-model support align with open MLOps adoption, reducing churn risk in multi-vendor enterprise environments.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